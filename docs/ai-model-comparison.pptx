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6858000" cy="9144000"/>
  <p:embeddedFontLst>
    <p:embeddedFont>
      <p:font typeface="Economica" panose="02000506040000020004" pitchFamily="2" charset="77"/>
      <p:regular r:id="rId12"/>
      <p:bold r:id="rId13"/>
      <p:italic r:id="rId14"/>
      <p:boldItalic r:id="rId15"/>
    </p:embeddedFont>
    <p:embeddedFont>
      <p:font typeface="Georgia" panose="02040502050405020303" pitchFamily="18" charset="0"/>
      <p:regular r:id="rId16"/>
      <p:bold r:id="rId17"/>
      <p:italic r:id="rId18"/>
      <p:boldItalic r:id="rId19"/>
    </p:embeddedFont>
    <p:embeddedFont>
      <p:font typeface="Open Sans" panose="020B0606030504020204" pitchFamily="34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6B5D72E-6FE9-4E07-A47F-154C564DA454}">
  <a:tblStyle styleId="{D6B5D72E-6FE9-4E07-A47F-154C564DA45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82"/>
  </p:normalViewPr>
  <p:slideViewPr>
    <p:cSldViewPr snapToGrid="0">
      <p:cViewPr varScale="1">
        <p:scale>
          <a:sx n="148" d="100"/>
          <a:sy n="148" d="100"/>
        </p:scale>
        <p:origin x="624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c6b69a1f24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c6b69a1f24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c6b69a1f24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c6b69a1f24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c6b69a1f24_0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c6b69a1f24_0_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c6be1ed5cf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c6be1ed5cf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bd9f783b8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bd9f783b8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c6be1ed5cf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c6be1ed5cf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bd9dc0b7a4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bd9dc0b7a4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bd9dc0b7a4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bd9dc0b7a4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bd9f783b8f_4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bd9f783b8f_4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7" name="Google Shape;17;p3"/>
          <p:cNvSpPr/>
          <p:nvPr/>
        </p:nvSpPr>
        <p:spPr>
          <a:xfrm rot="10800000" flipH="1">
            <a:off x="466425" y="35583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2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4" name="Google Shape;44;p9"/>
          <p:cNvSpPr txBox="1">
            <a:spLocks noGrp="1"/>
          </p:cNvSpPr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>
            <a:spLocks noGrp="1"/>
          </p:cNvSpPr>
          <p:nvPr>
            <p:ph type="body" idx="1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>
            <a:endParaRPr/>
          </a:p>
        </p:txBody>
      </p:sp>
      <p:sp>
        <p:nvSpPr>
          <p:cNvPr id="50" name="Google Shape;50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11"/>
          <p:cNvSpPr txBox="1">
            <a:spLocks noGrp="1"/>
          </p:cNvSpPr>
          <p:nvPr>
            <p:ph type="title" hasCustomPrompt="1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>
            <a:spLocks noGrp="1"/>
          </p:cNvSpPr>
          <p:nvPr>
            <p:ph type="body" idx="1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lux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university.mindstudio.ai/docs/usage-pricing-reference?utm_source=chatgpt.com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countless.dev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massive.io/gear-guides/the-best-ai-video-generator-comparison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ctrTitle"/>
          </p:nvPr>
        </p:nvSpPr>
        <p:spPr>
          <a:xfrm>
            <a:off x="2975475" y="821225"/>
            <a:ext cx="3054600" cy="151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Industry Team 5</a:t>
            </a:r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ubTitle" idx="1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Comparative Analysis of LLMs: Performance vs. Cost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Text-based output analysis</a:t>
            </a:r>
            <a:endParaRPr/>
          </a:p>
        </p:txBody>
      </p:sp>
      <p:graphicFrame>
        <p:nvGraphicFramePr>
          <p:cNvPr id="69" name="Google Shape;69;p14"/>
          <p:cNvGraphicFramePr/>
          <p:nvPr/>
        </p:nvGraphicFramePr>
        <p:xfrm>
          <a:off x="952500" y="1313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{D6B5D72E-6FE9-4E07-A47F-154C564DA454}</a:tableStyleId>
              </a:tblPr>
              <a:tblGrid>
                <a:gridCol w="1708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98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32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MODEL</a:t>
                      </a:r>
                      <a:endParaRPr sz="1000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USE CASE</a:t>
                      </a:r>
                      <a:endParaRPr sz="1000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OTHER FEATURES</a:t>
                      </a:r>
                      <a:endParaRPr sz="1000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OpenAI (GPT-4.1 / GPT-5 family)</a:t>
                      </a:r>
                      <a:endParaRPr sz="1000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chemeClr val="dk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Highest reasoning &amp; accuracy</a:t>
                      </a:r>
                      <a:endParaRPr sz="1000" b="1">
                        <a:solidFill>
                          <a:schemeClr val="dk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  <a:p>
                      <a:pPr marL="0" lvl="0" indent="0" algn="l" rtl="0"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(choose if errors have consequences)</a:t>
                      </a:r>
                      <a:endParaRPr sz="1000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Strong instruction following + structured outputs</a:t>
                      </a:r>
                      <a:endParaRPr sz="1000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High-stakes text where accuracy &gt; cost. </a:t>
                      </a:r>
                      <a:endParaRPr sz="1000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Anthropic (Claude 3.5+)</a:t>
                      </a:r>
                      <a:endParaRPr sz="1000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000" b="1">
                          <a:solidFill>
                            <a:schemeClr val="dk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Safety-critical &amp; policy-heavy text</a:t>
                      </a:r>
                      <a:endParaRPr sz="1000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Excellent context retention. Weaker than OpenAI on abstract reasoning</a:t>
                      </a:r>
                      <a:endParaRPr sz="1000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Google Gemini</a:t>
                      </a:r>
                      <a:endParaRPr sz="1000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000" b="1">
                          <a:solidFill>
                            <a:schemeClr val="dk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Search-grounded &amp; factual answers</a:t>
                      </a:r>
                      <a:endParaRPr sz="1000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Large context window. Less creative. Supports correctness + scale.</a:t>
                      </a:r>
                      <a:endParaRPr sz="1000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Meta LLaMA 3</a:t>
                      </a:r>
                      <a:endParaRPr sz="1000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000" b="1">
                          <a:solidFill>
                            <a:schemeClr val="dk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Open-source / on-prem control</a:t>
                      </a:r>
                      <a:endParaRPr sz="1000" b="1">
                        <a:solidFill>
                          <a:schemeClr val="dk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Highly customizable but requires ML infrastructure. Best for enterprises needing data control.</a:t>
                      </a:r>
                      <a:endParaRPr sz="1000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Mistral</a:t>
                      </a:r>
                      <a:endParaRPr sz="1000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000" b="1">
                          <a:solidFill>
                            <a:schemeClr val="dk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Cost-efficient EU-hosted option</a:t>
                      </a:r>
                      <a:endParaRPr sz="1000" b="1">
                        <a:solidFill>
                          <a:schemeClr val="dk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Strong multilingual support but smaller ecosystem.</a:t>
                      </a:r>
                      <a:endParaRPr sz="1000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xAI Grok</a:t>
                      </a:r>
                      <a:endParaRPr sz="1000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000" b="1">
                          <a:solidFill>
                            <a:schemeClr val="dk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Real-time &amp; social-trend aware</a:t>
                      </a:r>
                      <a:endParaRPr sz="1000" b="1">
                        <a:solidFill>
                          <a:schemeClr val="dk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Not ideal for formal or regulated outputs</a:t>
                      </a:r>
                      <a:endParaRPr sz="1000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Price Comparison </a:t>
            </a:r>
            <a:br>
              <a:rPr lang="en"/>
            </a:br>
            <a:r>
              <a:rPr lang="en" sz="872" b="1"/>
              <a:t>ref: </a:t>
            </a:r>
            <a:r>
              <a:rPr lang="en" sz="872" u="sng">
                <a:solidFill>
                  <a:schemeClr val="hlink"/>
                </a:solidFill>
                <a:hlinkClick r:id="rId3"/>
              </a:rPr>
              <a:t>https://university.mindstudio.ai/docs/usage-pricing-reference?utm_source=chatgpt.com</a:t>
            </a:r>
            <a:r>
              <a:rPr lang="en" sz="872"/>
              <a:t>  /</a:t>
            </a:r>
            <a:endParaRPr sz="872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72"/>
              <a:t>      </a:t>
            </a:r>
            <a:r>
              <a:rPr lang="en" sz="872" u="sng">
                <a:solidFill>
                  <a:schemeClr val="hlink"/>
                </a:solidFill>
                <a:hlinkClick r:id="rId4"/>
              </a:rPr>
              <a:t>https://countless.dev/</a:t>
            </a:r>
            <a:r>
              <a:rPr lang="en" sz="872"/>
              <a:t> </a:t>
            </a:r>
            <a:endParaRPr sz="872"/>
          </a:p>
        </p:txBody>
      </p:sp>
      <p:graphicFrame>
        <p:nvGraphicFramePr>
          <p:cNvPr id="75" name="Google Shape;75;p15"/>
          <p:cNvGraphicFramePr/>
          <p:nvPr/>
        </p:nvGraphicFramePr>
        <p:xfrm>
          <a:off x="809100" y="1307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{D6B5D72E-6FE9-4E07-A47F-154C564DA454}</a:tableStyleId>
              </a:tblPr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78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USE CASE</a:t>
                      </a:r>
                      <a:endParaRPr sz="1000" b="1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MODEL</a:t>
                      </a:r>
                      <a:endParaRPr sz="1000" b="1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$ per 1M Tokens</a:t>
                      </a:r>
                      <a:endParaRPr sz="1000" b="1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BEST FOR </a:t>
                      </a:r>
                      <a:endParaRPr sz="1000" b="1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7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High-performance commercial models ie., high-value tasks only</a:t>
                      </a:r>
                      <a:endParaRPr sz="1000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OpenAI GPT-4o and Claude Opus</a:t>
                      </a:r>
                      <a:endParaRPr sz="1000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$90  </a:t>
                      </a:r>
                      <a:endParaRPr sz="1000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I.e., strongest reasoning/quality but also attract significantly higher costs</a:t>
                      </a:r>
                      <a:endParaRPr sz="1000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Legal, compliance, high-risk decisions</a:t>
                      </a:r>
                      <a:endParaRPr sz="1000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5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Balanced quality &amp; cost models</a:t>
                      </a:r>
                      <a:endParaRPr sz="1000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i.e., production applications where quality and cost balance matters.</a:t>
                      </a:r>
                      <a:endParaRPr sz="1000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OpenAI GPT-4.1 and Anthropic Claude Standard</a:t>
                      </a:r>
                      <a:endParaRPr sz="1000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~$10–18</a:t>
                      </a:r>
                      <a:endParaRPr sz="1000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Enterprise workflows</a:t>
                      </a:r>
                      <a:endParaRPr sz="1000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03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Low-cost, high-volume options</a:t>
                      </a:r>
                      <a:endParaRPr sz="1000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Gemini Flash/Lite and Anthropic Claude Haiku</a:t>
                      </a:r>
                      <a:endParaRPr sz="1000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~$0.5–5</a:t>
                      </a:r>
                      <a:endParaRPr sz="1000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Summarization and extraction</a:t>
                      </a:r>
                      <a:endParaRPr sz="1000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03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Self-hosted / Open-source alternatives</a:t>
                      </a:r>
                      <a:endParaRPr sz="1000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Models like LLaMA on own infrastructure</a:t>
                      </a:r>
                      <a:endParaRPr sz="1000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Cheapest </a:t>
                      </a:r>
                      <a:endParaRPr sz="1000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Regulated or cost-sensitive environment</a:t>
                      </a:r>
                      <a:endParaRPr sz="1000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6" name="Google Shape;76;p15"/>
          <p:cNvSpPr txBox="1"/>
          <p:nvPr/>
        </p:nvSpPr>
        <p:spPr>
          <a:xfrm>
            <a:off x="4964275" y="454225"/>
            <a:ext cx="35844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Input tokens: prompts and context sent to model</a:t>
            </a:r>
            <a:endParaRPr sz="11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Output tokens: text generated by model</a:t>
            </a:r>
            <a:endParaRPr sz="11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Output tokens usually cost 3–5x more</a:t>
            </a:r>
            <a:endParaRPr sz="11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6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83" name="Google Shape;83;p16" descr="comparison table with pros cons and cost of ai generation tools. 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3338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Workflow Integration: Editing &amp; Ecosystem(Images)</a:t>
            </a:r>
            <a:endParaRPr/>
          </a:p>
        </p:txBody>
      </p:sp>
      <p:sp>
        <p:nvSpPr>
          <p:cNvPr id="89" name="Google Shape;89;p17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 b="1">
                <a:latin typeface="Arial"/>
                <a:ea typeface="Arial"/>
                <a:cs typeface="Arial"/>
                <a:sym typeface="Arial"/>
              </a:rPr>
              <a:t>In-Painting (The "Fix It" Feature)</a:t>
            </a:r>
            <a:endParaRPr sz="1100" b="1">
              <a:latin typeface="Arial"/>
              <a:ea typeface="Arial"/>
              <a:cs typeface="Arial"/>
              <a:sym typeface="Arial"/>
            </a:endParaRPr>
          </a:p>
          <a:p>
            <a:pPr marL="457200" lvl="0" indent="-293211" algn="l" rtl="0">
              <a:spcBef>
                <a:spcPts val="120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lang="en" sz="1100" b="1" i="1">
                <a:latin typeface="Arial"/>
                <a:ea typeface="Arial"/>
                <a:cs typeface="Arial"/>
                <a:sym typeface="Arial"/>
              </a:rPr>
              <a:t>Adobe Firefly:</a:t>
            </a:r>
            <a:r>
              <a:rPr lang="en" sz="1100" b="1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Industry Leader. Integrated directly into Photoshop. Select an area and type "remove person" or "add sunglasses."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3211" algn="l" rtl="0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lang="en" sz="1100" b="1" i="1">
                <a:latin typeface="Arial"/>
                <a:ea typeface="Arial"/>
                <a:cs typeface="Arial"/>
                <a:sym typeface="Arial"/>
              </a:rPr>
              <a:t>DALL-E 3:</a:t>
            </a:r>
            <a:r>
              <a:rPr lang="en" sz="1100" b="1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Conversational. You ask ChatGPT, "Make the cat blue instead," but it often regenerates the </a:t>
            </a:r>
            <a:r>
              <a:rPr lang="en" sz="1100" i="1">
                <a:latin typeface="Arial"/>
                <a:ea typeface="Arial"/>
                <a:cs typeface="Arial"/>
                <a:sym typeface="Arial"/>
              </a:rPr>
              <a:t>entire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image, losing the original composition.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3211" algn="l" rtl="0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lang="en" sz="1100" b="1" i="1">
                <a:latin typeface="Arial"/>
                <a:ea typeface="Arial"/>
                <a:cs typeface="Arial"/>
                <a:sym typeface="Arial"/>
              </a:rPr>
              <a:t>Midjourney: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Region Vary. Allows re-rolling specific parts of the image, but requires technical UI navigation (Discord/Web).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 b="1">
                <a:latin typeface="Arial"/>
                <a:ea typeface="Arial"/>
                <a:cs typeface="Arial"/>
                <a:sym typeface="Arial"/>
              </a:rPr>
              <a:t>Consistency (Character Reference)</a:t>
            </a:r>
            <a:endParaRPr sz="1100" b="1">
              <a:latin typeface="Arial"/>
              <a:ea typeface="Arial"/>
              <a:cs typeface="Arial"/>
              <a:sym typeface="Arial"/>
            </a:endParaRPr>
          </a:p>
          <a:p>
            <a:pPr marL="457200" lvl="0" indent="-293211" algn="l" rtl="0">
              <a:spcBef>
                <a:spcPts val="120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lang="en" sz="1100" b="1" i="1">
                <a:latin typeface="Arial"/>
                <a:ea typeface="Arial"/>
                <a:cs typeface="Arial"/>
                <a:sym typeface="Arial"/>
              </a:rPr>
              <a:t>Midjourney &amp; Flux:</a:t>
            </a:r>
            <a:r>
              <a:rPr lang="en" sz="1100" b="1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Strong. Can use a reference image to keep the same character face across different scenes.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3211" algn="l" rtl="0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lang="en" sz="1100" b="1" i="1">
                <a:latin typeface="Arial"/>
                <a:ea typeface="Arial"/>
                <a:cs typeface="Arial"/>
                <a:sym typeface="Arial"/>
              </a:rPr>
              <a:t>DALL-E 3 &amp; Firefly: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Weaker. struggles to maintain exact character identity between generated shots.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 b="1">
                <a:latin typeface="Arial"/>
                <a:ea typeface="Arial"/>
                <a:cs typeface="Arial"/>
                <a:sym typeface="Arial"/>
              </a:rPr>
              <a:t>Ecosystem Fit</a:t>
            </a:r>
            <a:endParaRPr sz="1100" b="1">
              <a:latin typeface="Arial"/>
              <a:ea typeface="Arial"/>
              <a:cs typeface="Arial"/>
              <a:sym typeface="Arial"/>
            </a:endParaRPr>
          </a:p>
          <a:p>
            <a:pPr marL="457200" lvl="0" indent="-293211" algn="l" rtl="0">
              <a:spcBef>
                <a:spcPts val="120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lang="en" sz="1100" b="1" i="1">
                <a:latin typeface="Arial"/>
                <a:ea typeface="Arial"/>
                <a:cs typeface="Arial"/>
                <a:sym typeface="Arial"/>
              </a:rPr>
              <a:t>Copilot/Gemini: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Best for inserting images directly into slides/docs.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3211" algn="l" rtl="0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lang="en" sz="1100" b="1" i="1">
                <a:latin typeface="Arial"/>
                <a:ea typeface="Arial"/>
                <a:cs typeface="Arial"/>
                <a:sym typeface="Arial"/>
              </a:rPr>
              <a:t>Midjourney:</a:t>
            </a:r>
            <a:r>
              <a:rPr lang="en" sz="1100" b="1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Standalone tool (Disruptive to workflow).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3211" algn="l" rtl="0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lang="en" sz="1100" b="1" i="1">
                <a:latin typeface="Arial"/>
                <a:ea typeface="Arial"/>
                <a:cs typeface="Arial"/>
                <a:sym typeface="Arial"/>
              </a:rPr>
              <a:t>Firefly: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Native to Creative Cloud (Seamless for designers).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18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96" name="Google Shape;96;p18" descr="https://www.cnet.com/tech/services-and-software/best-ai-image-generators/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>
            <a:spLocks noGrp="1"/>
          </p:cNvSpPr>
          <p:nvPr>
            <p:ph type="body" idx="1"/>
          </p:nvPr>
        </p:nvSpPr>
        <p:spPr>
          <a:xfrm>
            <a:off x="288750" y="1028700"/>
            <a:ext cx="8566500" cy="382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Georgia"/>
              <a:buAutoNum type="arabicPeriod"/>
            </a:pPr>
            <a:r>
              <a:rPr lang="en" sz="110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Same text prompt used across all tools to ensure fair comparison.</a:t>
            </a:r>
            <a:endParaRPr sz="1100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Georgia"/>
              <a:buAutoNum type="arabicPeriod"/>
            </a:pPr>
            <a:r>
              <a:rPr lang="en" sz="110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Tools and models covered:</a:t>
            </a:r>
            <a:endParaRPr sz="1100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Georgia"/>
              <a:buAutoNum type="alphaLcPeriod"/>
            </a:pPr>
            <a:r>
              <a:rPr lang="en" sz="110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Kling </a:t>
            </a:r>
            <a:r>
              <a:rPr lang="en" sz="1100">
                <a:latin typeface="Georgia"/>
                <a:ea typeface="Georgia"/>
                <a:cs typeface="Georgia"/>
                <a:sym typeface="Georgia"/>
              </a:rPr>
              <a:t>(Kling 01, Kling 2.6)</a:t>
            </a:r>
            <a:endParaRPr sz="1100">
              <a:latin typeface="Georgia"/>
              <a:ea typeface="Georgia"/>
              <a:cs typeface="Georgia"/>
              <a:sym typeface="Georgia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Georgia"/>
              <a:buAutoNum type="alphaLcPeriod"/>
            </a:pPr>
            <a:r>
              <a:rPr lang="en" sz="1100">
                <a:latin typeface="Georgia"/>
                <a:ea typeface="Georgia"/>
                <a:cs typeface="Georgia"/>
                <a:sym typeface="Georgia"/>
              </a:rPr>
              <a:t>Runway(Runway Gen 4.5), </a:t>
            </a:r>
            <a:endParaRPr sz="1100">
              <a:latin typeface="Georgia"/>
              <a:ea typeface="Georgia"/>
              <a:cs typeface="Georgia"/>
              <a:sym typeface="Georgia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Georgia"/>
              <a:buAutoNum type="alphaLcPeriod"/>
            </a:pPr>
            <a:r>
              <a:rPr lang="en" sz="1100">
                <a:latin typeface="Georgia"/>
                <a:ea typeface="Georgia"/>
                <a:cs typeface="Georgia"/>
                <a:sym typeface="Georgia"/>
              </a:rPr>
              <a:t>Google (Veo 3.1)</a:t>
            </a:r>
            <a:endParaRPr sz="1100">
              <a:latin typeface="Georgia"/>
              <a:ea typeface="Georgia"/>
              <a:cs typeface="Georgia"/>
              <a:sym typeface="Georgia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Georgia"/>
              <a:buAutoNum type="alphaLcPeriod"/>
            </a:pPr>
            <a:r>
              <a:rPr lang="en" sz="1100">
                <a:latin typeface="Georgia"/>
                <a:ea typeface="Georgia"/>
                <a:cs typeface="Georgia"/>
                <a:sym typeface="Georgia"/>
              </a:rPr>
              <a:t>OpenAI (Sora 2)</a:t>
            </a:r>
            <a:endParaRPr sz="1100">
              <a:latin typeface="Georgia"/>
              <a:ea typeface="Georgia"/>
              <a:cs typeface="Georgia"/>
              <a:sym typeface="Georgia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Georgia"/>
              <a:buAutoNum type="alphaLcPeriod"/>
            </a:pPr>
            <a:r>
              <a:rPr lang="en" sz="1100">
                <a:latin typeface="Georgia"/>
                <a:ea typeface="Georgia"/>
                <a:cs typeface="Georgia"/>
                <a:sym typeface="Georgia"/>
              </a:rPr>
              <a:t>Pika (Pika 2.5)</a:t>
            </a:r>
            <a:endParaRPr sz="1100">
              <a:latin typeface="Georgia"/>
              <a:ea typeface="Georgia"/>
              <a:cs typeface="Georgia"/>
              <a:sym typeface="Georgia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Georgia"/>
              <a:buAutoNum type="alphaLcPeriod"/>
            </a:pPr>
            <a:r>
              <a:rPr lang="en" sz="1100">
                <a:latin typeface="Georgia"/>
                <a:ea typeface="Georgia"/>
                <a:cs typeface="Georgia"/>
                <a:sym typeface="Georgia"/>
              </a:rPr>
              <a:t>Adobe (Firefly video model)</a:t>
            </a:r>
            <a:endParaRPr sz="1100">
              <a:latin typeface="Georgia"/>
              <a:ea typeface="Georgia"/>
              <a:cs typeface="Georgia"/>
              <a:sym typeface="Georgia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Georgia"/>
              <a:buAutoNum type="alphaLcPeriod"/>
            </a:pPr>
            <a:r>
              <a:rPr lang="en" sz="1100">
                <a:latin typeface="Georgia"/>
                <a:ea typeface="Georgia"/>
                <a:cs typeface="Georgia"/>
                <a:sym typeface="Georgia"/>
              </a:rPr>
              <a:t>Hailuo (Minimax 2.3)</a:t>
            </a:r>
            <a:endParaRPr sz="1100">
              <a:latin typeface="Georgia"/>
              <a:ea typeface="Georgia"/>
              <a:cs typeface="Georgia"/>
              <a:sym typeface="Georgia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Georgia"/>
              <a:buAutoNum type="alphaLcPeriod"/>
            </a:pPr>
            <a:r>
              <a:rPr lang="en" sz="1100">
                <a:latin typeface="Georgia"/>
                <a:ea typeface="Georgia"/>
                <a:cs typeface="Georgia"/>
                <a:sym typeface="Georgia"/>
              </a:rPr>
              <a:t>Luma Labs (Ray3, Ray3 HDR)</a:t>
            </a:r>
            <a:endParaRPr sz="1100">
              <a:latin typeface="Georgia"/>
              <a:ea typeface="Georgia"/>
              <a:cs typeface="Georgia"/>
              <a:sym typeface="Georgia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Georgia"/>
              <a:buAutoNum type="alphaLcPeriod"/>
            </a:pPr>
            <a:r>
              <a:rPr lang="en" sz="1100">
                <a:latin typeface="Georgia"/>
                <a:ea typeface="Georgia"/>
                <a:cs typeface="Georgia"/>
                <a:sym typeface="Georgia"/>
              </a:rPr>
              <a:t>Vidu (Vidu Q2)</a:t>
            </a:r>
            <a:endParaRPr sz="1100">
              <a:latin typeface="Georgia"/>
              <a:ea typeface="Georgia"/>
              <a:cs typeface="Georgia"/>
              <a:sym typeface="Georgia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Georgia"/>
              <a:buAutoNum type="alphaLcPeriod"/>
            </a:pPr>
            <a:r>
              <a:rPr lang="en" sz="1100">
                <a:latin typeface="Georgia"/>
                <a:ea typeface="Georgia"/>
                <a:cs typeface="Georgia"/>
                <a:sym typeface="Georgia"/>
              </a:rPr>
              <a:t>ByteDance (Seedance V1 Pro)</a:t>
            </a:r>
            <a:endParaRPr sz="1100">
              <a:latin typeface="Georgia"/>
              <a:ea typeface="Georgia"/>
              <a:cs typeface="Georgia"/>
              <a:sym typeface="Georgia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latin typeface="Georgia"/>
              <a:ea typeface="Georgia"/>
              <a:cs typeface="Georgia"/>
              <a:sym typeface="Georgia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Georgia"/>
              <a:buAutoNum type="arabicPeriod"/>
            </a:pPr>
            <a:r>
              <a:rPr lang="en" sz="110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Tools and their models were compared based on </a:t>
            </a:r>
            <a:endParaRPr sz="1100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Georgia"/>
              <a:buAutoNum type="alphaLcPeriod"/>
            </a:pPr>
            <a:r>
              <a:rPr lang="en" sz="1100">
                <a:solidFill>
                  <a:srgbClr val="000000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Accuracy: How many errors are in the video?</a:t>
            </a:r>
            <a:endParaRPr sz="1100">
              <a:solidFill>
                <a:srgbClr val="000000"/>
              </a:solidFill>
              <a:highlight>
                <a:srgbClr val="FFFFFF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Georgia"/>
              <a:buAutoNum type="alphaLcPeriod"/>
            </a:pPr>
            <a:r>
              <a:rPr lang="en" sz="1100">
                <a:solidFill>
                  <a:srgbClr val="000000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Realism: Does it look real?</a:t>
            </a:r>
            <a:endParaRPr sz="1100">
              <a:solidFill>
                <a:srgbClr val="000000"/>
              </a:solidFill>
              <a:highlight>
                <a:srgbClr val="FFFFFF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Georgia"/>
              <a:buAutoNum type="alphaLcPeriod"/>
            </a:pPr>
            <a:r>
              <a:rPr lang="en" sz="1100">
                <a:solidFill>
                  <a:srgbClr val="000000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Consistency: How closely does it follow the prompt?</a:t>
            </a:r>
            <a:endParaRPr sz="1100">
              <a:solidFill>
                <a:srgbClr val="000000"/>
              </a:solidFill>
              <a:highlight>
                <a:srgbClr val="FFFFFF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Georgia"/>
              <a:buAutoNum type="alphaLcPeriod"/>
            </a:pPr>
            <a:r>
              <a:rPr lang="en" sz="1100">
                <a:solidFill>
                  <a:srgbClr val="000000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Creativity: Does it look interesting?</a:t>
            </a:r>
            <a:endParaRPr sz="1100">
              <a:solidFill>
                <a:srgbClr val="000000"/>
              </a:solidFill>
              <a:highlight>
                <a:srgbClr val="FFFFFF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Georgia"/>
              <a:buAutoNum type="alphaLcPeriod"/>
            </a:pPr>
            <a:r>
              <a:rPr lang="en" sz="1100">
                <a:solidFill>
                  <a:srgbClr val="000000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Cost Point </a:t>
            </a:r>
            <a:endParaRPr sz="1100">
              <a:solidFill>
                <a:srgbClr val="000000"/>
              </a:solidFill>
              <a:highlight>
                <a:srgbClr val="FFFFFF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Georgia"/>
              <a:buAutoNum type="alphaLcPeriod"/>
            </a:pPr>
            <a:r>
              <a:rPr lang="en" sz="1100">
                <a:solidFill>
                  <a:srgbClr val="000000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Text to video, image to video conversations</a:t>
            </a:r>
            <a:endParaRPr sz="1100">
              <a:solidFill>
                <a:srgbClr val="000000"/>
              </a:solidFill>
              <a:highlight>
                <a:srgbClr val="FFFFFF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Georgia"/>
              <a:buAutoNum type="alphaLcPeriod"/>
            </a:pPr>
            <a:r>
              <a:rPr lang="en" sz="1100">
                <a:solidFill>
                  <a:srgbClr val="000000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Video length and resolution</a:t>
            </a:r>
            <a:endParaRPr sz="1100">
              <a:solidFill>
                <a:srgbClr val="000000"/>
              </a:solidFill>
              <a:highlight>
                <a:srgbClr val="FFFFFF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Georgia"/>
              <a:buAutoNum type="alphaLcPeriod"/>
            </a:pPr>
            <a:r>
              <a:rPr lang="en" sz="1100">
                <a:solidFill>
                  <a:srgbClr val="000000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Sound Generation</a:t>
            </a:r>
            <a:endParaRPr sz="1100">
              <a:solidFill>
                <a:srgbClr val="000000"/>
              </a:solidFill>
              <a:highlight>
                <a:srgbClr val="FFFFFF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marL="0" lvl="0" indent="0" algn="l" rtl="0">
              <a:spcBef>
                <a:spcPts val="1100"/>
              </a:spcBef>
              <a:spcAft>
                <a:spcPts val="0"/>
              </a:spcAft>
              <a:buNone/>
            </a:pPr>
            <a:endParaRPr sz="1100">
              <a:solidFill>
                <a:srgbClr val="000000"/>
              </a:solidFill>
              <a:highlight>
                <a:srgbClr val="FFFFFF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None/>
            </a:pPr>
            <a:endParaRPr sz="1100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sz="11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02" name="Google Shape;102;p19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753" b="1">
                <a:highlight>
                  <a:schemeClr val="lt1"/>
                </a:highlight>
              </a:rPr>
              <a:t>AI Video Generator Analysis</a:t>
            </a:r>
            <a:br>
              <a:rPr lang="en" sz="3753" b="1">
                <a:highlight>
                  <a:schemeClr val="lt1"/>
                </a:highlight>
              </a:rPr>
            </a:br>
            <a:r>
              <a:rPr lang="en" sz="1500"/>
              <a:t>Reference: </a:t>
            </a:r>
            <a:r>
              <a:rPr lang="en" sz="1500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https://massive.io/gear-guides/the-best-ai-video-generator-comparison/</a:t>
            </a:r>
            <a:endParaRPr sz="1300" b="1"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0"/>
          <p:cNvSpPr txBox="1">
            <a:spLocks noGrp="1"/>
          </p:cNvSpPr>
          <p:nvPr>
            <p:ph type="body" idx="1"/>
          </p:nvPr>
        </p:nvSpPr>
        <p:spPr>
          <a:xfrm>
            <a:off x="178125" y="83125"/>
            <a:ext cx="3289500" cy="48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latin typeface="Georgia"/>
                <a:ea typeface="Georgia"/>
                <a:cs typeface="Georgia"/>
                <a:sym typeface="Georgia"/>
              </a:rPr>
              <a:t>Most cost-effective models</a:t>
            </a:r>
            <a:endParaRPr sz="1100" b="1">
              <a:latin typeface="Georgia"/>
              <a:ea typeface="Georgia"/>
              <a:cs typeface="Georgia"/>
              <a:sym typeface="Georgia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Georgia"/>
              <a:buAutoNum type="arabicPeriod"/>
            </a:pPr>
            <a:r>
              <a:rPr lang="en" sz="1100">
                <a:latin typeface="Georgia"/>
                <a:ea typeface="Georgia"/>
                <a:cs typeface="Georgia"/>
                <a:sym typeface="Georgia"/>
              </a:rPr>
              <a:t>Kling 01 (~$10/month)</a:t>
            </a:r>
            <a:endParaRPr sz="1100">
              <a:latin typeface="Georgia"/>
              <a:ea typeface="Georgia"/>
              <a:cs typeface="Georgia"/>
              <a:sym typeface="Georgia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Georgia"/>
              <a:buAutoNum type="arabicPeriod"/>
            </a:pPr>
            <a:r>
              <a:rPr lang="en" sz="1100">
                <a:latin typeface="Georgia"/>
                <a:ea typeface="Georgia"/>
                <a:cs typeface="Georgia"/>
                <a:sym typeface="Georgia"/>
              </a:rPr>
              <a:t>LumaRay3 / Ray3HDR($9.99/mon)</a:t>
            </a:r>
            <a:endParaRPr sz="1100">
              <a:latin typeface="Georgia"/>
              <a:ea typeface="Georgia"/>
              <a:cs typeface="Georgia"/>
              <a:sym typeface="Georgia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Georgia"/>
              <a:buAutoNum type="arabicPeriod"/>
            </a:pPr>
            <a:r>
              <a:rPr lang="en" sz="1100">
                <a:latin typeface="Georgia"/>
                <a:ea typeface="Georgia"/>
                <a:cs typeface="Georgia"/>
                <a:sym typeface="Georgia"/>
              </a:rPr>
              <a:t>Hailuo 2.3 (~$14.99/month)</a:t>
            </a:r>
            <a:endParaRPr sz="1100">
              <a:latin typeface="Georgia"/>
              <a:ea typeface="Georgia"/>
              <a:cs typeface="Georgia"/>
              <a:sym typeface="Georgia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Georgia"/>
                <a:ea typeface="Georgia"/>
                <a:cs typeface="Georgia"/>
                <a:sym typeface="Georgia"/>
              </a:rPr>
              <a:t> </a:t>
            </a:r>
            <a:endParaRPr sz="1100">
              <a:latin typeface="Georgia"/>
              <a:ea typeface="Georgia"/>
              <a:cs typeface="Georgia"/>
              <a:sym typeface="Georgi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latin typeface="Georgia"/>
                <a:ea typeface="Georgia"/>
                <a:cs typeface="Georgia"/>
                <a:sym typeface="Georgia"/>
              </a:rPr>
              <a:t>Most accurate &amp; realistic models</a:t>
            </a:r>
            <a:endParaRPr sz="1100" b="1">
              <a:latin typeface="Georgia"/>
              <a:ea typeface="Georgia"/>
              <a:cs typeface="Georgia"/>
              <a:sym typeface="Georgia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Georgia"/>
              <a:buAutoNum type="arabicPeriod"/>
            </a:pPr>
            <a:r>
              <a:rPr lang="en" sz="1100">
                <a:latin typeface="Georgia"/>
                <a:ea typeface="Georgia"/>
                <a:cs typeface="Georgia"/>
                <a:sym typeface="Georgia"/>
              </a:rPr>
              <a:t>Kling 01: Most balanced realistic model.</a:t>
            </a:r>
            <a:endParaRPr sz="1100">
              <a:latin typeface="Georgia"/>
              <a:ea typeface="Georgia"/>
              <a:cs typeface="Georgia"/>
              <a:sym typeface="Georgia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Georgia"/>
              <a:buAutoNum type="arabicPeriod"/>
            </a:pPr>
            <a:r>
              <a:rPr lang="en" sz="1100">
                <a:latin typeface="Georgia"/>
                <a:ea typeface="Georgia"/>
                <a:cs typeface="Georgia"/>
                <a:sym typeface="Georgia"/>
              </a:rPr>
              <a:t>Google Veo 3.1: Technically strong but not perfect realism.</a:t>
            </a:r>
            <a:endParaRPr sz="1100">
              <a:latin typeface="Georgia"/>
              <a:ea typeface="Georgia"/>
              <a:cs typeface="Georgia"/>
              <a:sym typeface="Georgia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Georgia"/>
              <a:buAutoNum type="arabicPeriod"/>
            </a:pPr>
            <a:r>
              <a:rPr lang="en" sz="1100">
                <a:latin typeface="Georgia"/>
                <a:ea typeface="Georgia"/>
                <a:cs typeface="Georgia"/>
                <a:sym typeface="Georgia"/>
              </a:rPr>
              <a:t>Pika 2.5: Realistic visuals but weaker prompt accuracy.</a:t>
            </a:r>
            <a:endParaRPr sz="1100">
              <a:latin typeface="Georgia"/>
              <a:ea typeface="Georgia"/>
              <a:cs typeface="Georgia"/>
              <a:sym typeface="Georgi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latin typeface="Georgia"/>
              <a:ea typeface="Georgia"/>
              <a:cs typeface="Georgia"/>
              <a:sym typeface="Georgi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latin typeface="Georgia"/>
                <a:ea typeface="Georgia"/>
                <a:cs typeface="Georgia"/>
                <a:sym typeface="Georgia"/>
              </a:rPr>
              <a:t>Creative but weaker realism models</a:t>
            </a:r>
            <a:endParaRPr sz="1100" b="1">
              <a:latin typeface="Georgia"/>
              <a:ea typeface="Georgia"/>
              <a:cs typeface="Georgia"/>
              <a:sym typeface="Georgia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Georgia"/>
              <a:buAutoNum type="arabicPeriod"/>
            </a:pPr>
            <a:r>
              <a:rPr lang="en" sz="1100">
                <a:latin typeface="Georgia"/>
                <a:ea typeface="Georgia"/>
                <a:cs typeface="Georgia"/>
                <a:sym typeface="Georgia"/>
              </a:rPr>
              <a:t>Runway Gen 4.5: Good for innovation, not realistic.</a:t>
            </a:r>
            <a:endParaRPr sz="1100">
              <a:latin typeface="Georgia"/>
              <a:ea typeface="Georgia"/>
              <a:cs typeface="Georgia"/>
              <a:sym typeface="Georgia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Georgia"/>
              <a:buAutoNum type="arabicPeriod"/>
            </a:pPr>
            <a:r>
              <a:rPr lang="en" sz="1100">
                <a:latin typeface="Georgia"/>
                <a:ea typeface="Georgia"/>
                <a:cs typeface="Georgia"/>
                <a:sym typeface="Georgia"/>
              </a:rPr>
              <a:t>Sora 2: Creative but realism gap.</a:t>
            </a:r>
            <a:endParaRPr sz="1100">
              <a:latin typeface="Georgia"/>
              <a:ea typeface="Georgia"/>
              <a:cs typeface="Georgia"/>
              <a:sym typeface="Georgi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latin typeface="Georgia"/>
              <a:ea typeface="Georgia"/>
              <a:cs typeface="Georgia"/>
              <a:sym typeface="Georgi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latin typeface="Georgia"/>
                <a:ea typeface="Georgia"/>
                <a:cs typeface="Georgia"/>
                <a:sym typeface="Georgia"/>
              </a:rPr>
              <a:t>Weakest</a:t>
            </a:r>
            <a:r>
              <a:rPr lang="en" sz="1100"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" sz="1100" b="1">
                <a:latin typeface="Georgia"/>
                <a:ea typeface="Georgia"/>
                <a:cs typeface="Georgia"/>
                <a:sym typeface="Georgia"/>
              </a:rPr>
              <a:t>models</a:t>
            </a:r>
            <a:endParaRPr sz="1100" b="1">
              <a:latin typeface="Georgia"/>
              <a:ea typeface="Georgia"/>
              <a:cs typeface="Georgia"/>
              <a:sym typeface="Georgia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Georgia"/>
              <a:buAutoNum type="arabicPeriod"/>
            </a:pPr>
            <a:r>
              <a:rPr lang="en" sz="1100">
                <a:latin typeface="Georgia"/>
                <a:ea typeface="Georgia"/>
                <a:cs typeface="Georgia"/>
                <a:sym typeface="Georgia"/>
              </a:rPr>
              <a:t>Adobe Firefly: lower visual quality</a:t>
            </a:r>
            <a:endParaRPr sz="1100">
              <a:latin typeface="Georgia"/>
              <a:ea typeface="Georgia"/>
              <a:cs typeface="Georgia"/>
              <a:sym typeface="Georgia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Georgia"/>
              <a:buAutoNum type="arabicPeriod"/>
            </a:pPr>
            <a:r>
              <a:rPr lang="en" sz="1100">
                <a:latin typeface="Georgia"/>
                <a:ea typeface="Georgia"/>
                <a:cs typeface="Georgia"/>
                <a:sym typeface="Georgia"/>
              </a:rPr>
              <a:t>Vidu Q2: faulty and weakest output.</a:t>
            </a:r>
            <a:endParaRPr sz="1100">
              <a:latin typeface="Georgia"/>
              <a:ea typeface="Georgia"/>
              <a:cs typeface="Georgia"/>
              <a:sym typeface="Georgia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Georgia"/>
              <a:buAutoNum type="arabicPeriod"/>
            </a:pPr>
            <a:r>
              <a:rPr lang="en" sz="1100">
                <a:latin typeface="Georgia"/>
                <a:ea typeface="Georgia"/>
                <a:cs typeface="Georgia"/>
                <a:sym typeface="Georgia"/>
              </a:rPr>
              <a:t>Seedance V1 Pro: weakest realism</a:t>
            </a:r>
            <a:endParaRPr sz="1100">
              <a:latin typeface="Georgia"/>
              <a:ea typeface="Georgia"/>
              <a:cs typeface="Georgia"/>
              <a:sym typeface="Georgi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latin typeface="Georgia"/>
              <a:ea typeface="Georgia"/>
              <a:cs typeface="Georgia"/>
              <a:sym typeface="Georgi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latin typeface="Georgia"/>
                <a:ea typeface="Georgia"/>
                <a:cs typeface="Georgia"/>
                <a:sym typeface="Georgia"/>
              </a:rPr>
              <a:t>Overall best-rated models models</a:t>
            </a:r>
            <a:endParaRPr sz="1100" b="1">
              <a:latin typeface="Georgia"/>
              <a:ea typeface="Georgia"/>
              <a:cs typeface="Georgia"/>
              <a:sym typeface="Georgia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Georgia"/>
              <a:buAutoNum type="arabicPeriod"/>
            </a:pPr>
            <a:r>
              <a:rPr lang="en" sz="1100">
                <a:latin typeface="Georgia"/>
                <a:ea typeface="Georgia"/>
                <a:cs typeface="Georgia"/>
                <a:sym typeface="Georgia"/>
              </a:rPr>
              <a:t>Luma Ray3 HDR → Most visually stunning, true 4K HDR cinematic output.</a:t>
            </a:r>
            <a:endParaRPr sz="1100">
              <a:latin typeface="Georgia"/>
              <a:ea typeface="Georgia"/>
              <a:cs typeface="Georgia"/>
              <a:sym typeface="Georgia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Georgia"/>
              <a:buAutoNum type="arabicPeriod"/>
            </a:pPr>
            <a:r>
              <a:rPr lang="en" sz="1100">
                <a:latin typeface="Georgia"/>
                <a:ea typeface="Georgia"/>
                <a:cs typeface="Georgia"/>
                <a:sym typeface="Georgia"/>
              </a:rPr>
              <a:t>Kling 01 → Best balance of accuracy, realism, and prompt consistency.</a:t>
            </a:r>
            <a:endParaRPr sz="1100">
              <a:latin typeface="Georgia"/>
              <a:ea typeface="Georgia"/>
              <a:cs typeface="Georgia"/>
              <a:sym typeface="Georgia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Georgia"/>
              <a:buAutoNum type="arabicPeriod"/>
            </a:pPr>
            <a:r>
              <a:rPr lang="en" sz="1100">
                <a:latin typeface="Georgia"/>
                <a:ea typeface="Georgia"/>
                <a:cs typeface="Georgia"/>
                <a:sym typeface="Georgia"/>
              </a:rPr>
              <a:t>Pika 2.5 → Very realistic lighting, reflections, and textures.</a:t>
            </a:r>
            <a:endParaRPr sz="1100">
              <a:latin typeface="Georgia"/>
              <a:ea typeface="Georgia"/>
              <a:cs typeface="Georgia"/>
              <a:sym typeface="Georgia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latin typeface="Georgia"/>
              <a:ea typeface="Georgia"/>
              <a:cs typeface="Georgia"/>
              <a:sym typeface="Georgi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latin typeface="Georgia"/>
              <a:ea typeface="Georgia"/>
              <a:cs typeface="Georgia"/>
              <a:sym typeface="Georgia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/>
          </a:p>
        </p:txBody>
      </p:sp>
      <p:pic>
        <p:nvPicPr>
          <p:cNvPr id="108" name="Google Shape;108;p20" title="Screenshot 2026-02-09 at 2.50.04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40049" y="0"/>
            <a:ext cx="5603954" cy="51435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21" descr="Beautify this slid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766</Words>
  <Application>Microsoft Macintosh PowerPoint</Application>
  <PresentationFormat>On-screen Show (16:9)</PresentationFormat>
  <Paragraphs>113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Georgia</vt:lpstr>
      <vt:lpstr>Economica</vt:lpstr>
      <vt:lpstr>Open Sans</vt:lpstr>
      <vt:lpstr>Arial</vt:lpstr>
      <vt:lpstr>Luxe</vt:lpstr>
      <vt:lpstr>Industry Team 5</vt:lpstr>
      <vt:lpstr>Text-based output analysis</vt:lpstr>
      <vt:lpstr>Price Comparison  ref: https://university.mindstudio.ai/docs/usage-pricing-reference?utm_source=chatgpt.com  /       https://countless.dev/ </vt:lpstr>
      <vt:lpstr>PowerPoint Presentation</vt:lpstr>
      <vt:lpstr>Workflow Integration: Editing &amp; Ecosystem(Images)</vt:lpstr>
      <vt:lpstr>PowerPoint Presentation</vt:lpstr>
      <vt:lpstr>AI Video Generator Analysis Reference: https://massive.io/gear-guides/the-best-ai-video-generator-comparison/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Satyam Chaurasia (Student)</cp:lastModifiedBy>
  <cp:revision>1</cp:revision>
  <dcterms:modified xsi:type="dcterms:W3CDTF">2026-02-20T18:20:48Z</dcterms:modified>
</cp:coreProperties>
</file>